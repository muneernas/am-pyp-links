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71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93579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54352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86817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3330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58643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12659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0419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97544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11694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19331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518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09684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852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482866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744631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70191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01012-25B3-4EEF-B1F9-DF9C09A1A183}" type="datetimeFigureOut">
              <a:rPr lang="ar-JO" smtClean="0"/>
              <a:t>10/11/1445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FBC5878-F738-402C-9356-4AE2CAA32CBF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8122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95006" y="3814354"/>
            <a:ext cx="863454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OM" sz="5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الهدف: التّعرّف على المفاهيمِ الهندسيّة</a:t>
            </a:r>
            <a:endParaRPr lang="ar-JO" sz="5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4AE61-569A-DAE0-2606-7E29C528BF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885" y="221334"/>
            <a:ext cx="8084457" cy="261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4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24744" y="2220686"/>
            <a:ext cx="978408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النقطة: هو الأثر الذي يتركه القلم 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 الضّغط عليه بدون تحريكه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.</a:t>
            </a:r>
            <a:endParaRPr lang="ar-JO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6865" y="977462"/>
            <a:ext cx="176349" cy="117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9" name="TextBox 8"/>
          <p:cNvSpPr txBox="1"/>
          <p:nvPr/>
        </p:nvSpPr>
        <p:spPr>
          <a:xfrm>
            <a:off x="3474720" y="3308327"/>
            <a:ext cx="813816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النّقطة الّتي أمامنا تُسمّى النّقطة م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1794" y="574766"/>
            <a:ext cx="61395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OM" sz="5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endParaRPr lang="ar-JO" sz="5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0" y="4715691"/>
            <a:ext cx="536883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تُكتب      م 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" name="Oval 6"/>
          <p:cNvSpPr/>
          <p:nvPr/>
        </p:nvSpPr>
        <p:spPr>
          <a:xfrm>
            <a:off x="9913620" y="4949109"/>
            <a:ext cx="176349" cy="117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84722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  <p:bldP spid="10" grpId="0"/>
      <p:bldP spid="11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/>
          <p:nvPr/>
        </p:nvCxnSpPr>
        <p:spPr>
          <a:xfrm>
            <a:off x="2821577" y="811683"/>
            <a:ext cx="5408023" cy="11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45474" y="2116183"/>
            <a:ext cx="1073766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 المستقيم: هو خطّ ليس له نقطة بداية و لا نهاية، و يمتد من الجهتينِ إلى ما لا نهاية</a:t>
            </a:r>
            <a:endParaRPr lang="ar-JO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12079" y="3114092"/>
            <a:ext cx="672737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إذا أردنا أن نسمّي الخطّ نضع عليه نقطتان س و ص 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88281" y="1118274"/>
            <a:ext cx="4180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OM" dirty="0"/>
              <a:t>س</a:t>
            </a:r>
            <a:endParaRPr lang="ar-JO" dirty="0"/>
          </a:p>
        </p:txBody>
      </p:sp>
      <p:sp>
        <p:nvSpPr>
          <p:cNvPr id="14" name="TextBox 13"/>
          <p:cNvSpPr txBox="1"/>
          <p:nvPr/>
        </p:nvSpPr>
        <p:spPr>
          <a:xfrm>
            <a:off x="3017519" y="971090"/>
            <a:ext cx="6139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OM" dirty="0"/>
              <a:t>ص</a:t>
            </a:r>
            <a:endParaRPr lang="ar-JO" dirty="0"/>
          </a:p>
        </p:txBody>
      </p:sp>
      <p:sp>
        <p:nvSpPr>
          <p:cNvPr id="18" name="TextBox 17"/>
          <p:cNvSpPr txBox="1"/>
          <p:nvPr/>
        </p:nvSpPr>
        <p:spPr>
          <a:xfrm>
            <a:off x="9470571" y="4898572"/>
            <a:ext cx="2253342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يُكتب س ص</a:t>
            </a:r>
            <a:endParaRPr lang="ar-JO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6714308" y="4112001"/>
            <a:ext cx="505532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يُقرأ الخط المستقيم "س ص"   أو   "ص س"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" name="Oval 3"/>
          <p:cNvSpPr/>
          <p:nvPr/>
        </p:nvSpPr>
        <p:spPr>
          <a:xfrm>
            <a:off x="7589519" y="763182"/>
            <a:ext cx="190376" cy="1362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5" name="Oval 4"/>
          <p:cNvSpPr/>
          <p:nvPr/>
        </p:nvSpPr>
        <p:spPr>
          <a:xfrm>
            <a:off x="3239587" y="723144"/>
            <a:ext cx="182882" cy="1972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7" name="TextBox 6"/>
          <p:cNvSpPr txBox="1"/>
          <p:nvPr/>
        </p:nvSpPr>
        <p:spPr>
          <a:xfrm>
            <a:off x="2090057" y="4146058"/>
            <a:ext cx="1541417" cy="6951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JO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9774282" y="5033991"/>
            <a:ext cx="8229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16629" y="5264331"/>
            <a:ext cx="1554480" cy="6792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JO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8144689" y="5037257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44689" y="4971943"/>
            <a:ext cx="150222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  ص س</a:t>
            </a:r>
            <a:endParaRPr lang="ar-JO" sz="3200" dirty="0"/>
          </a:p>
        </p:txBody>
      </p:sp>
    </p:spTree>
    <p:extLst>
      <p:ext uri="{BB962C8B-B14F-4D97-AF65-F5344CB8AC3E}">
        <p14:creationId xmlns:p14="http://schemas.microsoft.com/office/powerpoint/2010/main" val="182338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18" grpId="0"/>
      <p:bldP spid="2" grpId="0"/>
      <p:bldP spid="4" grpId="0" animBg="1"/>
      <p:bldP spid="5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4271554" y="1502229"/>
            <a:ext cx="2847703" cy="13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43050" y="2272937"/>
            <a:ext cx="1046171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قطعة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مستقيمة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: هي 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جزء من الخطّ المستقيم محد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دة بنقطتين تسم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يان نقطة البداية والنّهاي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ة.</a:t>
            </a:r>
            <a:endParaRPr lang="ar-JO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1283" y="2988621"/>
            <a:ext cx="326571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يمكن أن نعين نقطة البداية أ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41627" y="5024735"/>
            <a:ext cx="215537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تُكتب أ ب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 flipV="1">
            <a:off x="10264140" y="4896118"/>
            <a:ext cx="522515" cy="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373292" y="4896118"/>
            <a:ext cx="64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30290" y="1217899"/>
            <a:ext cx="2873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6789" y="1205589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55525" y="2918276"/>
            <a:ext cx="235458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نقطة النهاية ب</a:t>
            </a:r>
            <a:endParaRPr lang="ar-JO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708320" y="3864404"/>
            <a:ext cx="534543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نسمّي القطعة المستقيمة أ ب   أو    ب أ</a:t>
            </a:r>
            <a:endParaRPr lang="ar-JO" sz="3200" dirty="0"/>
          </a:p>
        </p:txBody>
      </p:sp>
      <p:sp>
        <p:nvSpPr>
          <p:cNvPr id="4" name="Oval 3"/>
          <p:cNvSpPr/>
          <p:nvPr/>
        </p:nvSpPr>
        <p:spPr>
          <a:xfrm flipH="1" flipV="1">
            <a:off x="7040879" y="1483279"/>
            <a:ext cx="78378" cy="849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5" name="Oval 4"/>
          <p:cNvSpPr/>
          <p:nvPr/>
        </p:nvSpPr>
        <p:spPr>
          <a:xfrm flipV="1">
            <a:off x="4273185" y="1440824"/>
            <a:ext cx="65314" cy="849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7" name="TextBox 6"/>
          <p:cNvSpPr txBox="1"/>
          <p:nvPr/>
        </p:nvSpPr>
        <p:spPr>
          <a:xfrm>
            <a:off x="8373292" y="5024735"/>
            <a:ext cx="122301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  ب أ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6888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1" grpId="0"/>
      <p:bldP spid="22" grpId="0"/>
      <p:bldP spid="2" grpId="0"/>
      <p:bldP spid="3" grpId="0"/>
      <p:bldP spid="4" grpId="0" animBg="1"/>
      <p:bldP spid="5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940526" y="2272937"/>
            <a:ext cx="11064239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عاع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: 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 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جزء من خطّ مستقيم له نقطة بداية وليس له نقطة نهاية. لتسم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الش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عاع نبدأ من نقطة البداية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.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9976" y="3704121"/>
            <a:ext cx="1055478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عندما نسمّي هذا الشّعاع نحدّد نقطتين عليه نقطة بداية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98380" y="5170849"/>
            <a:ext cx="204107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ويكتب ع ل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566" y="1488968"/>
            <a:ext cx="2873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923" y="1565861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C7FA8B-A654-4551-8460-A7BEFBE16C50}"/>
              </a:ext>
            </a:extLst>
          </p:cNvPr>
          <p:cNvCxnSpPr/>
          <p:nvPr/>
        </p:nvCxnSpPr>
        <p:spPr>
          <a:xfrm flipH="1">
            <a:off x="4403541" y="1488968"/>
            <a:ext cx="2656115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8BBEC4-B673-4F71-8CB3-9BE90190289D}"/>
              </a:ext>
            </a:extLst>
          </p:cNvPr>
          <p:cNvCxnSpPr/>
          <p:nvPr/>
        </p:nvCxnSpPr>
        <p:spPr>
          <a:xfrm flipH="1">
            <a:off x="10336343" y="5188115"/>
            <a:ext cx="665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209198" y="3704120"/>
            <a:ext cx="252240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ونقطة </a:t>
            </a:r>
            <a:r>
              <a:rPr lang="ar-JO" sz="3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الشّعاع</a:t>
            </a:r>
            <a:r>
              <a:rPr lang="ar-OM" sz="3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endParaRPr lang="ar-JO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3577590" y="4400550"/>
            <a:ext cx="85153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نقول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الشعاع 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 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لكن لا نقول ل ع 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لأنّ نقطة البداية هي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ar-JO" sz="3200" dirty="0"/>
          </a:p>
        </p:txBody>
      </p:sp>
      <p:sp>
        <p:nvSpPr>
          <p:cNvPr id="4" name="Oval 3"/>
          <p:cNvSpPr/>
          <p:nvPr/>
        </p:nvSpPr>
        <p:spPr>
          <a:xfrm>
            <a:off x="7039429" y="1459176"/>
            <a:ext cx="95430" cy="7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5" name="Oval 4"/>
          <p:cNvSpPr/>
          <p:nvPr/>
        </p:nvSpPr>
        <p:spPr>
          <a:xfrm>
            <a:off x="4877977" y="1444994"/>
            <a:ext cx="100329" cy="59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63563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1" grpId="0"/>
      <p:bldP spid="22" grpId="0"/>
      <p:bldP spid="2" grpId="0"/>
      <p:bldP spid="3" grpId="0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394960" y="2593310"/>
            <a:ext cx="660980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نلاحظ إذا تمّ مد الخطّين لن يلتقيا لأنّ المسافة بينهما ثابتة.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5896" y="3826321"/>
            <a:ext cx="890886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نسمّي هذان الخطّان ( خطّان متوازيان ) ونقول هنا الخط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 ب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يوازي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 د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83930" y="5209144"/>
            <a:ext cx="335552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ويكتب أ ب        ج د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8" y="2154542"/>
            <a:ext cx="2004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8151" y="2150884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9AE17-2546-4AA4-BD19-2D60110179DA}"/>
              </a:ext>
            </a:extLst>
          </p:cNvPr>
          <p:cNvSpPr txBox="1"/>
          <p:nvPr/>
        </p:nvSpPr>
        <p:spPr>
          <a:xfrm>
            <a:off x="4691017" y="2970619"/>
            <a:ext cx="2873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45B95-26EA-41B9-B564-B0A8696A8877}"/>
              </a:ext>
            </a:extLst>
          </p:cNvPr>
          <p:cNvSpPr txBox="1"/>
          <p:nvPr/>
        </p:nvSpPr>
        <p:spPr>
          <a:xfrm>
            <a:off x="1538151" y="2992333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968B4A-BF72-492F-9DB8-DC4826AE9E32}"/>
              </a:ext>
            </a:extLst>
          </p:cNvPr>
          <p:cNvCxnSpPr>
            <a:cxnSpLocks/>
          </p:cNvCxnSpPr>
          <p:nvPr/>
        </p:nvCxnSpPr>
        <p:spPr>
          <a:xfrm flipH="1" flipV="1">
            <a:off x="2091865" y="3178085"/>
            <a:ext cx="2598058" cy="137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2EDA1D-525F-4898-996F-CAF8335115EB}"/>
              </a:ext>
            </a:extLst>
          </p:cNvPr>
          <p:cNvCxnSpPr>
            <a:cxnSpLocks/>
          </p:cNvCxnSpPr>
          <p:nvPr/>
        </p:nvCxnSpPr>
        <p:spPr>
          <a:xfrm flipH="1" flipV="1">
            <a:off x="2092959" y="2379790"/>
            <a:ext cx="2598058" cy="137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">
            <a:extLst>
              <a:ext uri="{FF2B5EF4-FFF2-40B4-BE49-F238E27FC236}">
                <a16:creationId xmlns:a16="http://schemas.microsoft.com/office/drawing/2014/main" id="{2BA8360B-AD06-4AB3-8EDF-ABD36554504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948498" y="4838675"/>
            <a:ext cx="6280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8B4F7A-E670-4B75-BAF9-37FE30C1FE39}"/>
              </a:ext>
            </a:extLst>
          </p:cNvPr>
          <p:cNvCxnSpPr/>
          <p:nvPr/>
        </p:nvCxnSpPr>
        <p:spPr>
          <a:xfrm flipV="1">
            <a:off x="9952381" y="5254604"/>
            <a:ext cx="198783" cy="478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1421C5-BB5E-4B57-9C35-250B322E030E}"/>
              </a:ext>
            </a:extLst>
          </p:cNvPr>
          <p:cNvCxnSpPr/>
          <p:nvPr/>
        </p:nvCxnSpPr>
        <p:spPr>
          <a:xfrm flipV="1">
            <a:off x="10151164" y="5254604"/>
            <a:ext cx="198783" cy="478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709158" y="925511"/>
            <a:ext cx="2646682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المستقيمات المتوازيّة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334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1" grpId="0"/>
      <p:bldP spid="22" grpId="0"/>
      <p:bldP spid="15" grpId="0"/>
      <p:bldP spid="1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840980" y="2593310"/>
            <a:ext cx="416378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هذان الخطّان يتقاطعان في النّقطة م،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0" y="3826321"/>
            <a:ext cx="428951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 أ ب يتقاطع مع الخط ج د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6660" y="5209144"/>
            <a:ext cx="437279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ويكتب أ ب       ج د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7656" y="525780"/>
            <a:ext cx="2873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4003" y="1559545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9AE17-2546-4AA4-BD19-2D60110179DA}"/>
              </a:ext>
            </a:extLst>
          </p:cNvPr>
          <p:cNvSpPr txBox="1"/>
          <p:nvPr/>
        </p:nvSpPr>
        <p:spPr>
          <a:xfrm>
            <a:off x="3436979" y="1302261"/>
            <a:ext cx="2873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45B95-26EA-41B9-B564-B0A8696A8877}"/>
              </a:ext>
            </a:extLst>
          </p:cNvPr>
          <p:cNvSpPr txBox="1"/>
          <p:nvPr/>
        </p:nvSpPr>
        <p:spPr>
          <a:xfrm>
            <a:off x="1557401" y="611416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2EDA1D-525F-4898-996F-CAF8335115EB}"/>
              </a:ext>
            </a:extLst>
          </p:cNvPr>
          <p:cNvCxnSpPr>
            <a:cxnSpLocks/>
          </p:cNvCxnSpPr>
          <p:nvPr/>
        </p:nvCxnSpPr>
        <p:spPr>
          <a:xfrm flipH="1">
            <a:off x="1727020" y="829395"/>
            <a:ext cx="1650636" cy="9591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AAB399-3191-4A81-A6A4-93A57A7CD41F}"/>
              </a:ext>
            </a:extLst>
          </p:cNvPr>
          <p:cNvCxnSpPr>
            <a:cxnSpLocks/>
          </p:cNvCxnSpPr>
          <p:nvPr/>
        </p:nvCxnSpPr>
        <p:spPr>
          <a:xfrm flipH="1" flipV="1">
            <a:off x="1786343" y="1048974"/>
            <a:ext cx="1595854" cy="5353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254A78-C38A-49DA-8F1D-0A542A76F4D2}"/>
              </a:ext>
            </a:extLst>
          </p:cNvPr>
          <p:cNvSpPr txBox="1"/>
          <p:nvPr/>
        </p:nvSpPr>
        <p:spPr>
          <a:xfrm>
            <a:off x="2429336" y="1231063"/>
            <a:ext cx="5747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80E014-CF03-47A6-A36B-9D099F46C0AC}"/>
              </a:ext>
            </a:extLst>
          </p:cNvPr>
          <p:cNvCxnSpPr>
            <a:cxnSpLocks/>
          </p:cNvCxnSpPr>
          <p:nvPr/>
        </p:nvCxnSpPr>
        <p:spPr>
          <a:xfrm flipH="1">
            <a:off x="10031342" y="5485498"/>
            <a:ext cx="289469" cy="1711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D7D26D2-AA15-4A41-8D28-F33EB284C608}"/>
              </a:ext>
            </a:extLst>
          </p:cNvPr>
          <p:cNvCxnSpPr>
            <a:cxnSpLocks/>
          </p:cNvCxnSpPr>
          <p:nvPr/>
        </p:nvCxnSpPr>
        <p:spPr>
          <a:xfrm flipH="1" flipV="1">
            <a:off x="9939561" y="5467501"/>
            <a:ext cx="473032" cy="2071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2537286" y="1245548"/>
            <a:ext cx="113755" cy="1889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3" name="TextBox 2"/>
          <p:cNvSpPr txBox="1"/>
          <p:nvPr/>
        </p:nvSpPr>
        <p:spPr>
          <a:xfrm>
            <a:off x="4777740" y="525780"/>
            <a:ext cx="252603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المستقيمات المتقاطعة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46433" y="2613885"/>
            <a:ext cx="238887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ويشكّلان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أربع 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زو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6718" y="2599315"/>
            <a:ext cx="320914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ونسمّي الخط الأول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 ب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endParaRPr lang="ar-JO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606600"/>
            <a:ext cx="281486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والخط الثّاني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 د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"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2065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1" grpId="0"/>
      <p:bldP spid="22" grpId="0"/>
      <p:bldP spid="15" grpId="0"/>
      <p:bldP spid="16" grpId="0"/>
      <p:bldP spid="20" grpId="0"/>
      <p:bldP spid="2" grpId="0" animBg="1"/>
      <p:bldP spid="3" grpId="0"/>
      <p:bldP spid="4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140" y="2924610"/>
            <a:ext cx="516962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نلاحظ أمامنا خطّان متقاطعان عند النّقطة م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3390" y="3893970"/>
            <a:ext cx="774137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en-US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L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الزّوايا قائمة ومتساوية في هذان الخطّان مكوّنة شكل حرف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6860" y="5121696"/>
            <a:ext cx="30251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الخط أ ب يعامد ج د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9AE17-2546-4AA4-BD19-2D60110179DA}"/>
              </a:ext>
            </a:extLst>
          </p:cNvPr>
          <p:cNvSpPr txBox="1"/>
          <p:nvPr/>
        </p:nvSpPr>
        <p:spPr>
          <a:xfrm>
            <a:off x="6279792" y="1877425"/>
            <a:ext cx="22260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AAB399-3191-4A81-A6A4-93A57A7CD41F}"/>
              </a:ext>
            </a:extLst>
          </p:cNvPr>
          <p:cNvCxnSpPr>
            <a:cxnSpLocks/>
          </p:cNvCxnSpPr>
          <p:nvPr/>
        </p:nvCxnSpPr>
        <p:spPr>
          <a:xfrm flipV="1">
            <a:off x="6182538" y="1296435"/>
            <a:ext cx="0" cy="12576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8744F8-484E-4221-AE53-47C2C485C09F}"/>
              </a:ext>
            </a:extLst>
          </p:cNvPr>
          <p:cNvCxnSpPr>
            <a:cxnSpLocks/>
          </p:cNvCxnSpPr>
          <p:nvPr/>
        </p:nvCxnSpPr>
        <p:spPr>
          <a:xfrm flipH="1" flipV="1">
            <a:off x="5326374" y="1904271"/>
            <a:ext cx="1712328" cy="355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utoShape 2" descr="{\displaystyle \perp }">
            <a:extLst>
              <a:ext uri="{FF2B5EF4-FFF2-40B4-BE49-F238E27FC236}">
                <a16:creationId xmlns:a16="http://schemas.microsoft.com/office/drawing/2014/main" id="{74E1C5C4-90E7-4FBF-BB8B-A4C32C6AC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6208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AutoShape 4" descr="{\displaystyle \perp }">
            <a:extLst>
              <a:ext uri="{FF2B5EF4-FFF2-40B4-BE49-F238E27FC236}">
                <a16:creationId xmlns:a16="http://schemas.microsoft.com/office/drawing/2014/main" id="{E8CBA5D3-BE4E-45B7-A081-213821627D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1532F3D-CADD-4A6C-A0D0-FC1E0005F4D9}"/>
              </a:ext>
            </a:extLst>
          </p:cNvPr>
          <p:cNvCxnSpPr>
            <a:cxnSpLocks/>
          </p:cNvCxnSpPr>
          <p:nvPr/>
        </p:nvCxnSpPr>
        <p:spPr>
          <a:xfrm flipH="1" flipV="1">
            <a:off x="7706007" y="5509116"/>
            <a:ext cx="469359" cy="8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A401C8-86AF-4119-BA86-3CC38248FD6D}"/>
              </a:ext>
            </a:extLst>
          </p:cNvPr>
          <p:cNvCxnSpPr>
            <a:cxnSpLocks/>
          </p:cNvCxnSpPr>
          <p:nvPr/>
        </p:nvCxnSpPr>
        <p:spPr>
          <a:xfrm flipV="1">
            <a:off x="7940687" y="5217751"/>
            <a:ext cx="3444" cy="285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9C22EAF-D594-4AAD-8EDE-4F05DBB50042}"/>
              </a:ext>
            </a:extLst>
          </p:cNvPr>
          <p:cNvSpPr/>
          <p:nvPr/>
        </p:nvSpPr>
        <p:spPr>
          <a:xfrm>
            <a:off x="6195787" y="1776939"/>
            <a:ext cx="159658" cy="143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50972" y="400050"/>
            <a:ext cx="290285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المستقيمات المتعامدة</a:t>
            </a: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Oval 2"/>
          <p:cNvSpPr/>
          <p:nvPr/>
        </p:nvSpPr>
        <p:spPr>
          <a:xfrm>
            <a:off x="6127930" y="1877425"/>
            <a:ext cx="116660" cy="1416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4" name="TextBox 3"/>
          <p:cNvSpPr txBox="1"/>
          <p:nvPr/>
        </p:nvSpPr>
        <p:spPr>
          <a:xfrm>
            <a:off x="2606040" y="2945219"/>
            <a:ext cx="459811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يصنعان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أربع 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زو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قائمة عند التقائهما</a:t>
            </a:r>
            <a:endParaRPr lang="ar-JO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6502401" y="5121695"/>
            <a:ext cx="318996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ويكتب أ ب 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 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 </a:t>
            </a:r>
            <a:r>
              <a:rPr lang="ar-OM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 د</a:t>
            </a:r>
            <a:endParaRPr lang="ar-JO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B75B8-9B93-47B8-B4F8-10E425822A61}"/>
              </a:ext>
            </a:extLst>
          </p:cNvPr>
          <p:cNvSpPr txBox="1"/>
          <p:nvPr/>
        </p:nvSpPr>
        <p:spPr>
          <a:xfrm>
            <a:off x="7080879" y="1729548"/>
            <a:ext cx="40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endParaRPr lang="en-US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B315AA-D2B7-4E83-BFE7-4CBB8E95F648}"/>
              </a:ext>
            </a:extLst>
          </p:cNvPr>
          <p:cNvSpPr txBox="1"/>
          <p:nvPr/>
        </p:nvSpPr>
        <p:spPr>
          <a:xfrm>
            <a:off x="6014078" y="782022"/>
            <a:ext cx="40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endParaRPr lang="en-US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B7BBF-0229-4B83-8CD2-DCD885FAEA05}"/>
              </a:ext>
            </a:extLst>
          </p:cNvPr>
          <p:cNvSpPr txBox="1"/>
          <p:nvPr/>
        </p:nvSpPr>
        <p:spPr>
          <a:xfrm>
            <a:off x="4841255" y="1636785"/>
            <a:ext cx="40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endParaRPr lang="en-US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9D04C-B9E9-4430-8406-CFF42529E591}"/>
              </a:ext>
            </a:extLst>
          </p:cNvPr>
          <p:cNvSpPr txBox="1"/>
          <p:nvPr/>
        </p:nvSpPr>
        <p:spPr>
          <a:xfrm>
            <a:off x="6033398" y="2425293"/>
            <a:ext cx="40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endParaRPr lang="en-US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264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41" grpId="0" animBg="1"/>
      <p:bldP spid="2" grpId="0"/>
      <p:bldP spid="3" grpId="0" animBg="1"/>
      <p:bldP spid="4" grpId="0"/>
      <p:bldP spid="5" grpId="0"/>
      <p:bldP spid="7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D953-E0BA-47BC-E45C-ACA9EFF9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JO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الزّاوية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CB926-31FF-2A3D-7656-649F70B0C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080378"/>
            <a:ext cx="8915400" cy="3777622"/>
          </a:xfrm>
        </p:spPr>
        <p:txBody>
          <a:bodyPr>
            <a:norm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تتكوّن الزاوية نتيجة انطلاق شعاعان من نقطة البداية نفسها. نقطة الالتقاء تسمى رأس الزاوية</a:t>
            </a:r>
          </a:p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ضلعيّ الزاوية: هما الشعاعان اللّذان التقيا عند نقطة الزاوية</a:t>
            </a:r>
          </a:p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نقوم بتسمية الزاوية من خلال تحديد نقطة على كل ضلع ووضع اسم لرأس الزاوية أيضا، حيث يكون اسم رأس الزاوية دائما في المنتصف.</a:t>
            </a:r>
            <a:endParaRPr lang="en-US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F0F621-23DB-BFBD-2C25-45464AF8D9BC}"/>
              </a:ext>
            </a:extLst>
          </p:cNvPr>
          <p:cNvCxnSpPr/>
          <p:nvPr/>
        </p:nvCxnSpPr>
        <p:spPr>
          <a:xfrm flipV="1">
            <a:off x="3957638" y="1285875"/>
            <a:ext cx="2138362" cy="12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49BE24-7E94-932D-B7EA-227CFD8561C1}"/>
              </a:ext>
            </a:extLst>
          </p:cNvPr>
          <p:cNvCxnSpPr/>
          <p:nvPr/>
        </p:nvCxnSpPr>
        <p:spPr>
          <a:xfrm flipH="1" flipV="1">
            <a:off x="3957638" y="624110"/>
            <a:ext cx="400050" cy="1990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BB7E9011-829F-2EA9-A9B2-45710C2B8255}"/>
              </a:ext>
            </a:extLst>
          </p:cNvPr>
          <p:cNvSpPr/>
          <p:nvPr/>
        </p:nvSpPr>
        <p:spPr>
          <a:xfrm>
            <a:off x="3836193" y="1863098"/>
            <a:ext cx="785813" cy="58006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CB8C1D-D099-C255-0354-B8FEE0E2E807}"/>
              </a:ext>
            </a:extLst>
          </p:cNvPr>
          <p:cNvSpPr/>
          <p:nvPr/>
        </p:nvSpPr>
        <p:spPr>
          <a:xfrm>
            <a:off x="5572125" y="1514475"/>
            <a:ext cx="150276" cy="714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BD533E-862B-BDB0-6793-4CA841FA74A5}"/>
              </a:ext>
            </a:extLst>
          </p:cNvPr>
          <p:cNvSpPr/>
          <p:nvPr/>
        </p:nvSpPr>
        <p:spPr>
          <a:xfrm>
            <a:off x="4007387" y="1239210"/>
            <a:ext cx="150276" cy="714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514CE-999D-C8A9-2ED5-895B335BA6AC}"/>
              </a:ext>
            </a:extLst>
          </p:cNvPr>
          <p:cNvSpPr txBox="1"/>
          <p:nvPr/>
        </p:nvSpPr>
        <p:spPr>
          <a:xfrm>
            <a:off x="5722401" y="1550194"/>
            <a:ext cx="37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6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endParaRPr lang="en-US" sz="36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829D6-841C-1911-96AD-044EDFC068FB}"/>
              </a:ext>
            </a:extLst>
          </p:cNvPr>
          <p:cNvSpPr txBox="1"/>
          <p:nvPr/>
        </p:nvSpPr>
        <p:spPr>
          <a:xfrm>
            <a:off x="4007387" y="2374568"/>
            <a:ext cx="37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6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endParaRPr lang="en-US" sz="36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41989-AF25-4104-B6E0-78DAE7CDA54D}"/>
              </a:ext>
            </a:extLst>
          </p:cNvPr>
          <p:cNvSpPr txBox="1"/>
          <p:nvPr/>
        </p:nvSpPr>
        <p:spPr>
          <a:xfrm>
            <a:off x="3633788" y="1125982"/>
            <a:ext cx="37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6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endParaRPr lang="en-US" sz="36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6178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C4018-2672-A0C6-3079-52E337A1B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14550"/>
            <a:ext cx="8915400" cy="3796672"/>
          </a:xfrm>
        </p:spPr>
        <p:txBody>
          <a:bodyPr>
            <a:norm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تسمى الزاوية بإحدى الطرق التّالية:</a:t>
            </a:r>
          </a:p>
          <a:p>
            <a:pPr>
              <a:buFontTx/>
              <a:buChar char="-"/>
            </a:pP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الزاوية ع ل ن    أو الزاوية ن ل ع</a:t>
            </a:r>
          </a:p>
          <a:p>
            <a:pPr>
              <a:buFontTx/>
              <a:buChar char="-"/>
            </a:pP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         ع ل ن    أو            ن ع ل</a:t>
            </a:r>
            <a:endParaRPr lang="en-US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E52C18-C455-8414-D731-5217831445E6}"/>
              </a:ext>
            </a:extLst>
          </p:cNvPr>
          <p:cNvGrpSpPr/>
          <p:nvPr/>
        </p:nvGrpSpPr>
        <p:grpSpPr>
          <a:xfrm>
            <a:off x="10472738" y="3143250"/>
            <a:ext cx="669569" cy="714375"/>
            <a:chOff x="10472738" y="3143250"/>
            <a:chExt cx="669569" cy="714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51B752-0B79-A08A-30CC-84B1C219EEC1}"/>
                </a:ext>
              </a:extLst>
            </p:cNvPr>
            <p:cNvCxnSpPr/>
            <p:nvPr/>
          </p:nvCxnSpPr>
          <p:spPr>
            <a:xfrm>
              <a:off x="10472738" y="3500438"/>
              <a:ext cx="414338" cy="128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2DCB7F-7BFE-569A-0E28-D71A92A044A2}"/>
                </a:ext>
              </a:extLst>
            </p:cNvPr>
            <p:cNvCxnSpPr/>
            <p:nvPr/>
          </p:nvCxnSpPr>
          <p:spPr>
            <a:xfrm flipH="1">
              <a:off x="10472739" y="3629026"/>
              <a:ext cx="414337" cy="2143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03324261-213C-2583-6063-81A4A150921F}"/>
                </a:ext>
              </a:extLst>
            </p:cNvPr>
            <p:cNvSpPr/>
            <p:nvPr/>
          </p:nvSpPr>
          <p:spPr>
            <a:xfrm rot="12358480">
              <a:off x="10727969" y="3143250"/>
              <a:ext cx="414338" cy="714375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395832-0F1A-6FDC-5087-29F57BF349F0}"/>
              </a:ext>
            </a:extLst>
          </p:cNvPr>
          <p:cNvGrpSpPr/>
          <p:nvPr/>
        </p:nvGrpSpPr>
        <p:grpSpPr>
          <a:xfrm>
            <a:off x="7667626" y="3126468"/>
            <a:ext cx="669569" cy="714375"/>
            <a:chOff x="10472738" y="3143250"/>
            <a:chExt cx="669569" cy="71437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AC77A13-92E2-0E40-2C7F-E76BA5F9F19B}"/>
                </a:ext>
              </a:extLst>
            </p:cNvPr>
            <p:cNvCxnSpPr/>
            <p:nvPr/>
          </p:nvCxnSpPr>
          <p:spPr>
            <a:xfrm>
              <a:off x="10472738" y="3500438"/>
              <a:ext cx="414338" cy="128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CBE9A6-7CD7-D858-0522-399B36C9DE6E}"/>
                </a:ext>
              </a:extLst>
            </p:cNvPr>
            <p:cNvCxnSpPr/>
            <p:nvPr/>
          </p:nvCxnSpPr>
          <p:spPr>
            <a:xfrm flipH="1">
              <a:off x="10472739" y="3629026"/>
              <a:ext cx="414337" cy="2143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7C627A9-96B9-9A3F-0AE8-C77DA34504D4}"/>
                </a:ext>
              </a:extLst>
            </p:cNvPr>
            <p:cNvSpPr/>
            <p:nvPr/>
          </p:nvSpPr>
          <p:spPr>
            <a:xfrm rot="12358480">
              <a:off x="10727969" y="3143250"/>
              <a:ext cx="414338" cy="714375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FF714E-451E-912C-F176-4BA668C516A5}"/>
              </a:ext>
            </a:extLst>
          </p:cNvPr>
          <p:cNvGrpSpPr/>
          <p:nvPr/>
        </p:nvGrpSpPr>
        <p:grpSpPr>
          <a:xfrm rot="1747378">
            <a:off x="2062162" y="2537787"/>
            <a:ext cx="2462212" cy="2396789"/>
            <a:chOff x="3633788" y="624110"/>
            <a:chExt cx="2462212" cy="239678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F444B7A-7390-C375-91F8-4D3982742186}"/>
                </a:ext>
              </a:extLst>
            </p:cNvPr>
            <p:cNvCxnSpPr/>
            <p:nvPr/>
          </p:nvCxnSpPr>
          <p:spPr>
            <a:xfrm flipV="1">
              <a:off x="3957638" y="1285875"/>
              <a:ext cx="2138362" cy="12144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614D204-0AAF-08D2-FE86-4A986522001D}"/>
                </a:ext>
              </a:extLst>
            </p:cNvPr>
            <p:cNvCxnSpPr/>
            <p:nvPr/>
          </p:nvCxnSpPr>
          <p:spPr>
            <a:xfrm flipH="1" flipV="1">
              <a:off x="3957638" y="624110"/>
              <a:ext cx="400050" cy="1990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E21316F5-4084-1A54-544F-109834D29423}"/>
                </a:ext>
              </a:extLst>
            </p:cNvPr>
            <p:cNvSpPr/>
            <p:nvPr/>
          </p:nvSpPr>
          <p:spPr>
            <a:xfrm>
              <a:off x="3836193" y="1863098"/>
              <a:ext cx="785813" cy="580065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66B5A2-C42B-A272-FCC1-B8A7F2B20608}"/>
                </a:ext>
              </a:extLst>
            </p:cNvPr>
            <p:cNvSpPr/>
            <p:nvPr/>
          </p:nvSpPr>
          <p:spPr>
            <a:xfrm>
              <a:off x="5572125" y="1514475"/>
              <a:ext cx="150276" cy="7143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9704F9F-339A-BD0B-329C-E21EF2666EDD}"/>
                </a:ext>
              </a:extLst>
            </p:cNvPr>
            <p:cNvSpPr/>
            <p:nvPr/>
          </p:nvSpPr>
          <p:spPr>
            <a:xfrm>
              <a:off x="4007387" y="1239210"/>
              <a:ext cx="150276" cy="7143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2C4DCD-B372-89D7-FB57-3804ED935DE3}"/>
                </a:ext>
              </a:extLst>
            </p:cNvPr>
            <p:cNvSpPr txBox="1"/>
            <p:nvPr/>
          </p:nvSpPr>
          <p:spPr>
            <a:xfrm>
              <a:off x="5722401" y="1550194"/>
              <a:ext cx="3735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JO" sz="36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ع</a:t>
              </a:r>
              <a:endParaRPr lang="en-US" sz="36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0F990B-D0AB-27E3-EDCE-7EECD9CECE60}"/>
                </a:ext>
              </a:extLst>
            </p:cNvPr>
            <p:cNvSpPr txBox="1"/>
            <p:nvPr/>
          </p:nvSpPr>
          <p:spPr>
            <a:xfrm>
              <a:off x="4007387" y="2374568"/>
              <a:ext cx="3735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JO" sz="36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ل</a:t>
              </a:r>
              <a:endParaRPr lang="en-US" sz="36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80473C-7D7A-E15B-B44D-30D161D64866}"/>
                </a:ext>
              </a:extLst>
            </p:cNvPr>
            <p:cNvSpPr txBox="1"/>
            <p:nvPr/>
          </p:nvSpPr>
          <p:spPr>
            <a:xfrm>
              <a:off x="3633788" y="1125982"/>
              <a:ext cx="3735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JO" sz="36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ن</a:t>
              </a:r>
              <a:endParaRPr lang="en-US" sz="3600" dirty="0">
                <a:latin typeface="Traditional Arabic" panose="02020603050405020304" pitchFamily="18" charset="-78"/>
                <a:cs typeface="Traditional Arabic" panose="02020603050405020304" pitchFamily="18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01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F4E9-D944-1630-855F-C866E60CC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ar-JO" sz="5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أنواع الزّوايا</a:t>
            </a:r>
            <a:endParaRPr lang="en-US" sz="5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973F3-DFB7-8FFD-5441-DE4B67DA3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الزّاوية القائمة : هي الزّاوية التي يكون قياسها </a:t>
            </a:r>
            <a:r>
              <a:rPr lang="ku-Arab-IQ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٩٠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º</a:t>
            </a: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الزّاوية الحادّة : هي الزّاوية التي يكون قياسها أقل من </a:t>
            </a:r>
            <a:r>
              <a:rPr lang="ku-Arab-IQ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٩٠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º</a:t>
            </a: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0" indent="0">
              <a:buNone/>
            </a:pPr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3ACC1A-3677-46BC-E4DA-63ED7535AD46}"/>
              </a:ext>
            </a:extLst>
          </p:cNvPr>
          <p:cNvCxnSpPr>
            <a:cxnSpLocks/>
          </p:cNvCxnSpPr>
          <p:nvPr/>
        </p:nvCxnSpPr>
        <p:spPr>
          <a:xfrm>
            <a:off x="2674936" y="3243263"/>
            <a:ext cx="1971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CADB4F-BE05-3522-098F-A9F6A35358DC}"/>
              </a:ext>
            </a:extLst>
          </p:cNvPr>
          <p:cNvCxnSpPr/>
          <p:nvPr/>
        </p:nvCxnSpPr>
        <p:spPr>
          <a:xfrm flipV="1">
            <a:off x="2674936" y="2028825"/>
            <a:ext cx="0" cy="121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CC688E-643A-D176-DB34-A150BB38C5E3}"/>
              </a:ext>
            </a:extLst>
          </p:cNvPr>
          <p:cNvCxnSpPr>
            <a:cxnSpLocks/>
          </p:cNvCxnSpPr>
          <p:nvPr/>
        </p:nvCxnSpPr>
        <p:spPr>
          <a:xfrm>
            <a:off x="2060574" y="5810250"/>
            <a:ext cx="2000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DB39C-B003-0580-0416-1DE2C513D56C}"/>
              </a:ext>
            </a:extLst>
          </p:cNvPr>
          <p:cNvCxnSpPr>
            <a:cxnSpLocks/>
          </p:cNvCxnSpPr>
          <p:nvPr/>
        </p:nvCxnSpPr>
        <p:spPr>
          <a:xfrm flipV="1">
            <a:off x="2089149" y="4657725"/>
            <a:ext cx="1000125" cy="1152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3E3A8F9-AF29-4094-61A5-D54344A9F8B0}"/>
              </a:ext>
            </a:extLst>
          </p:cNvPr>
          <p:cNvSpPr/>
          <p:nvPr/>
        </p:nvSpPr>
        <p:spPr>
          <a:xfrm>
            <a:off x="2674936" y="3033713"/>
            <a:ext cx="234936" cy="20954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0E1A9BB6-126F-0710-5BA2-BFDC7B074B3F}"/>
              </a:ext>
            </a:extLst>
          </p:cNvPr>
          <p:cNvSpPr/>
          <p:nvPr/>
        </p:nvSpPr>
        <p:spPr>
          <a:xfrm>
            <a:off x="2174083" y="5566090"/>
            <a:ext cx="300036" cy="4883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7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973F3-DFB7-8FFD-5441-DE4B67DA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863602"/>
            <a:ext cx="8915400" cy="5047620"/>
          </a:xfrm>
        </p:spPr>
        <p:txBody>
          <a:bodyPr>
            <a:noAutofit/>
          </a:bodyPr>
          <a:lstStyle/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الزّاوية المنفرجة : هي الزّاوية التي يكون قياسها أكبر من </a:t>
            </a:r>
            <a:r>
              <a:rPr lang="ku-Arab-IQ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٩٠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º وأقل من </a:t>
            </a:r>
            <a:r>
              <a:rPr lang="ku-Arab-IQ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١٨٠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º</a:t>
            </a: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endParaRPr lang="ku-Arab-IQ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الزّاوية المستقيمة :  هي الزّاوية التي يكون قياسها</a:t>
            </a:r>
            <a:r>
              <a:rPr lang="ku-Arab-IQ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١٨٠</a:t>
            </a:r>
            <a:r>
              <a:rPr lang="ar-JO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º</a:t>
            </a:r>
          </a:p>
          <a:p>
            <a:endParaRPr lang="ar-JO" sz="3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ACD56A-4CC5-44B2-875C-97359FE77FAF}"/>
              </a:ext>
            </a:extLst>
          </p:cNvPr>
          <p:cNvCxnSpPr>
            <a:cxnSpLocks/>
          </p:cNvCxnSpPr>
          <p:nvPr/>
        </p:nvCxnSpPr>
        <p:spPr>
          <a:xfrm>
            <a:off x="3684585" y="3201988"/>
            <a:ext cx="1971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E45487-7F72-4281-81B3-D1A699A01A51}"/>
              </a:ext>
            </a:extLst>
          </p:cNvPr>
          <p:cNvCxnSpPr>
            <a:cxnSpLocks/>
          </p:cNvCxnSpPr>
          <p:nvPr/>
        </p:nvCxnSpPr>
        <p:spPr>
          <a:xfrm flipH="1" flipV="1">
            <a:off x="2600324" y="2235200"/>
            <a:ext cx="1084261" cy="966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6CA76-EABC-BACB-3759-8B5867723F1C}"/>
              </a:ext>
            </a:extLst>
          </p:cNvPr>
          <p:cNvCxnSpPr>
            <a:cxnSpLocks/>
          </p:cNvCxnSpPr>
          <p:nvPr/>
        </p:nvCxnSpPr>
        <p:spPr>
          <a:xfrm>
            <a:off x="3280453" y="5911222"/>
            <a:ext cx="2000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34048C-46DE-0EF1-0EDE-79D60BC45272}"/>
              </a:ext>
            </a:extLst>
          </p:cNvPr>
          <p:cNvCxnSpPr>
            <a:cxnSpLocks/>
          </p:cNvCxnSpPr>
          <p:nvPr/>
        </p:nvCxnSpPr>
        <p:spPr>
          <a:xfrm flipH="1">
            <a:off x="2056491" y="5911222"/>
            <a:ext cx="1252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B09FF7F7-3506-7D4B-D768-BE70CD0743D3}"/>
              </a:ext>
            </a:extLst>
          </p:cNvPr>
          <p:cNvSpPr/>
          <p:nvPr/>
        </p:nvSpPr>
        <p:spPr>
          <a:xfrm rot="19494225">
            <a:off x="3451735" y="2970440"/>
            <a:ext cx="564138" cy="78758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24CFD722-6D47-D48C-AAC8-2F1465AEF8E9}"/>
              </a:ext>
            </a:extLst>
          </p:cNvPr>
          <p:cNvSpPr/>
          <p:nvPr/>
        </p:nvSpPr>
        <p:spPr>
          <a:xfrm rot="19486168">
            <a:off x="2993116" y="5858844"/>
            <a:ext cx="1104900" cy="76675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7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466</TotalTime>
  <Words>467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Traditional Arabic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الزّاوية</vt:lpstr>
      <vt:lpstr>PowerPoint Presentation</vt:lpstr>
      <vt:lpstr>أنواع الزّوايا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Zara Haddad</dc:creator>
  <cp:lastModifiedBy>Lenovo</cp:lastModifiedBy>
  <cp:revision>119</cp:revision>
  <dcterms:created xsi:type="dcterms:W3CDTF">2020-05-02T14:10:11Z</dcterms:created>
  <dcterms:modified xsi:type="dcterms:W3CDTF">2024-05-17T10:48:45Z</dcterms:modified>
</cp:coreProperties>
</file>