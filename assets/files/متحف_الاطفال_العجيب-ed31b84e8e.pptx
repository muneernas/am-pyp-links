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84B3F-12FF-4615-B784-FE699CD7E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3406A-8CF4-4987-BEA0-D38A1EFB3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7BDAC-E7BB-4490-B116-AC7BC9F59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6A748-DEDA-4D27-A795-CF74B5795EAE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FD6FD-1C68-483B-926B-562940F7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5D02A-C558-4042-A14D-BD016879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804E-5879-4DE3-933A-EFA504A01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25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7A5F6-99C6-40E0-980A-8B59973F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36B2C-BC0A-4017-850D-34D2995ED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1DB4B-64E9-4C10-83C6-B7130D84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6A748-DEDA-4D27-A795-CF74B5795EAE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17480-A6CA-4738-AA64-80271E01C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0DB40-8D02-49B5-858A-14A0A6430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804E-5879-4DE3-933A-EFA504A01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650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ABC2-3F00-4EC3-A327-BF168D06D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BD450-F2CB-4E79-AC97-6EF424710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4AA02-AB6A-4AFE-B9CB-32DA110D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6A748-DEDA-4D27-A795-CF74B5795EAE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19FE5-C0DC-4CF7-BDAD-89611711F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B7A93-D1C2-4773-8623-5A39B60F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804E-5879-4DE3-933A-EFA504A01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28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9671D-0B64-45CC-A1FE-4BF35B12E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E7988-0B2C-4E17-B3E2-E5DEDCBA5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91193-F721-4954-AE71-A413C76C5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1AAEB-C851-4146-A1CE-69F81649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6A748-DEDA-4D27-A795-CF74B5795EAE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DB1E9-3723-4A77-B71D-091E6DB55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C03A1-784C-461B-BAF4-33012E66C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804E-5879-4DE3-933A-EFA504A01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94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760B0-5324-4AEE-B712-A54E161D4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0BF52-8EB6-44BA-AD6E-EF6785513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04E61-36C9-42BD-A1D1-761087A5F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482084-5A87-4B24-A47F-2DA41A631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44CAD0-597B-4535-8E7A-5688B6A39D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FCF334-08A4-4B36-B40A-ABB30655A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6A748-DEDA-4D27-A795-CF74B5795EAE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ED6E3C-E950-4FD2-899F-D68AAB2D3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D5E9BA-89F0-4A3A-9FE2-CFEF21344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804E-5879-4DE3-933A-EFA504A01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12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E7291-150A-4D4F-86BD-0BDAD9E07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0B8A5-85EA-49E3-BA61-9FEA29256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6A748-DEDA-4D27-A795-CF74B5795EAE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4B941-E625-41C9-93D0-7BBECE271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C7BFB3-99F7-4332-BD9E-C0AE02AC0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804E-5879-4DE3-933A-EFA504A01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98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E21E4E-EA54-40EC-BDD0-6D86D07E9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6A748-DEDA-4D27-A795-CF74B5795EAE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76AAEA-1804-46A2-9EF5-C8BE7C8A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DE8D1-746C-4C17-AA0A-5A5460864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804E-5879-4DE3-933A-EFA504A01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987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9A94D-F6E3-43DF-9B4E-0E1F73A42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8B840-7FFF-4EC5-BE5A-E99FD15CC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B8D30-BC1C-450D-A8EC-B135C71AF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DD5E2-8C92-40A3-9AB2-CAAD08FBD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6A748-DEDA-4D27-A795-CF74B5795EAE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CC2C3-AFFA-4999-B260-87A9373EF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1075C-F79B-4A3C-8FEE-50CCAC7BB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804E-5879-4DE3-933A-EFA504A01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82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7A1C-327F-49E1-9971-32DCDBB3B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C08CCF-72C1-4616-ACFF-912D80C429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D7F44-FC9F-458A-ACA9-94AFBF8C8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B37B3-2D48-4898-BFD3-170868C6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6A748-DEDA-4D27-A795-CF74B5795EAE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694F8-E5FD-40A0-9D37-969A81F7A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65253-3371-4F72-A618-B3155C34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804E-5879-4DE3-933A-EFA504A01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5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6391-ACDA-4050-ABB2-18E1F870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78E50-64EE-45D0-B3CE-0A6D3E720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464A5-8F3E-4179-BFEE-A0D2B53A2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6A748-DEDA-4D27-A795-CF74B5795EAE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73DD1-C2C2-4FC3-AE87-681B4430A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7F444-6827-45DE-BB33-29EC908F7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804E-5879-4DE3-933A-EFA504A01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17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A41D22-9BCC-4A76-8D0B-AF7903B1E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ED647-3BA6-4606-9DE1-19F7EFA2D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C1FC0-EB12-4406-AC1D-55FA6C465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6A748-DEDA-4D27-A795-CF74B5795EAE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E3D32-5564-47CE-BE8D-BB129871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6991A-D9FC-4CBB-9F59-AF42D23B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6804E-5879-4DE3-933A-EFA504A01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7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A5DC37-779F-42D1-B9D1-9D32E5429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9EAD1-A433-4FF8-88A5-50C5834A3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708BC-E1C2-4F02-AADA-ACF583370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6A748-DEDA-4D27-A795-CF74B5795EAE}" type="datetimeFigureOut">
              <a:rPr lang="en-US" smtClean="0"/>
              <a:t>2/22/2023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4FE56-64C0-49DB-B67F-8E11016143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27F35-7589-4A64-BC4C-3FAC81D3D5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6804E-5879-4DE3-933A-EFA504A01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10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3ECFF5-580A-4DDA-81EE-6E9F25A20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1896" y="822643"/>
            <a:ext cx="9144000" cy="1655762"/>
          </a:xfrm>
        </p:spPr>
        <p:txBody>
          <a:bodyPr/>
          <a:lstStyle/>
          <a:p>
            <a:pPr algn="r"/>
            <a:r>
              <a:rPr lang="ar-JO" sz="4400" b="1" dirty="0">
                <a:effectLst/>
                <a:ea typeface="Calibri" panose="020F0502020204030204" pitchFamily="34" charset="0"/>
                <a:cs typeface="Sakkal Majalla" panose="02000000000000000000" pitchFamily="2" charset="-78"/>
              </a:rPr>
              <a:t>هيّا</a:t>
            </a:r>
            <a:r>
              <a:rPr lang="ar-JO" sz="4400" b="1" dirty="0">
                <a:effectLst/>
                <a:ea typeface="Calibri" panose="020F0502020204030204" pitchFamily="34" charset="0"/>
                <a:cs typeface="Aharoni" panose="02010803020104030203" pitchFamily="2" charset="-79"/>
              </a:rPr>
              <a:t> </a:t>
            </a:r>
            <a:r>
              <a:rPr lang="ar-JO" sz="4400" b="1" dirty="0">
                <a:effectLst/>
                <a:ea typeface="Calibri" panose="020F0502020204030204" pitchFamily="34" charset="0"/>
                <a:cs typeface="Sakkal Majalla" panose="02000000000000000000" pitchFamily="2" charset="-78"/>
              </a:rPr>
              <a:t>هيّا</a:t>
            </a:r>
            <a:r>
              <a:rPr lang="ar-JO" sz="4400" b="1" dirty="0">
                <a:effectLst/>
                <a:ea typeface="Calibri" panose="020F0502020204030204" pitchFamily="34" charset="0"/>
                <a:cs typeface="Aharoni" panose="02010803020104030203" pitchFamily="2" charset="-79"/>
              </a:rPr>
              <a:t>.. </a:t>
            </a:r>
            <a:r>
              <a:rPr lang="ar-JO" sz="4400" b="1" dirty="0">
                <a:effectLst/>
                <a:ea typeface="Calibri" panose="020F0502020204030204" pitchFamily="34" charset="0"/>
                <a:cs typeface="Sakkal Majalla" panose="02000000000000000000" pitchFamily="2" charset="-78"/>
              </a:rPr>
              <a:t>أسرعوا</a:t>
            </a:r>
            <a:r>
              <a:rPr lang="ar-JO" sz="4400" b="1" dirty="0">
                <a:effectLst/>
                <a:ea typeface="Calibri" panose="020F0502020204030204" pitchFamily="34" charset="0"/>
                <a:cs typeface="Aharoni" panose="02010803020104030203" pitchFamily="2" charset="-79"/>
              </a:rPr>
              <a:t> </a:t>
            </a:r>
            <a:r>
              <a:rPr lang="ar-JO" sz="4400" b="1" dirty="0">
                <a:effectLst/>
                <a:ea typeface="Calibri" panose="020F0502020204030204" pitchFamily="34" charset="0"/>
                <a:cs typeface="Sakkal Majalla" panose="02000000000000000000" pitchFamily="2" charset="-78"/>
              </a:rPr>
              <a:t>يا</a:t>
            </a:r>
            <a:r>
              <a:rPr lang="ar-JO" sz="4400" b="1" dirty="0">
                <a:effectLst/>
                <a:ea typeface="Calibri" panose="020F0502020204030204" pitchFamily="34" charset="0"/>
                <a:cs typeface="Aharoni" panose="02010803020104030203" pitchFamily="2" charset="-79"/>
              </a:rPr>
              <a:t> </a:t>
            </a:r>
            <a:r>
              <a:rPr lang="ar-JO" sz="4400" b="1" dirty="0">
                <a:effectLst/>
                <a:ea typeface="Calibri" panose="020F0502020204030204" pitchFamily="34" charset="0"/>
                <a:cs typeface="Sakkal Majalla" panose="02000000000000000000" pitchFamily="2" charset="-78"/>
              </a:rPr>
              <a:t>طلاب</a:t>
            </a:r>
            <a:r>
              <a:rPr lang="ar-JO" sz="4400" b="1" dirty="0">
                <a:effectLst/>
                <a:ea typeface="Calibri" panose="020F0502020204030204" pitchFamily="34" charset="0"/>
                <a:cs typeface="Aharoni" panose="02010803020104030203" pitchFamily="2" charset="-79"/>
              </a:rPr>
              <a:t> .. </a:t>
            </a:r>
            <a:r>
              <a:rPr lang="ar-JO" sz="4400" b="1" dirty="0">
                <a:effectLst/>
                <a:ea typeface="Calibri" panose="020F0502020204030204" pitchFamily="34" charset="0"/>
                <a:cs typeface="Sakkal Majalla" panose="02000000000000000000" pitchFamily="2" charset="-78"/>
              </a:rPr>
              <a:t>لننزلَ</a:t>
            </a:r>
            <a:r>
              <a:rPr lang="ar-JO" sz="4400" b="1" dirty="0">
                <a:effectLst/>
                <a:ea typeface="Calibri" panose="020F0502020204030204" pitchFamily="34" charset="0"/>
                <a:cs typeface="Aharoni" panose="02010803020104030203" pitchFamily="2" charset="-79"/>
              </a:rPr>
              <a:t> </a:t>
            </a:r>
            <a:r>
              <a:rPr lang="ar-JO" sz="4400" b="1" dirty="0">
                <a:effectLst/>
                <a:ea typeface="Calibri" panose="020F0502020204030204" pitchFamily="34" charset="0"/>
                <a:cs typeface="Sakkal Majalla" panose="02000000000000000000" pitchFamily="2" charset="-78"/>
              </a:rPr>
              <a:t>ونقفَ</a:t>
            </a:r>
            <a:r>
              <a:rPr lang="ar-JO" sz="4400" b="1" dirty="0">
                <a:effectLst/>
                <a:ea typeface="Calibri" panose="020F0502020204030204" pitchFamily="34" charset="0"/>
                <a:cs typeface="Aharoni" panose="02010803020104030203" pitchFamily="2" charset="-79"/>
              </a:rPr>
              <a:t> </a:t>
            </a:r>
            <a:r>
              <a:rPr lang="ar-JO" sz="4400" b="1" dirty="0">
                <a:effectLst/>
                <a:ea typeface="Calibri" panose="020F0502020204030204" pitchFamily="34" charset="0"/>
                <a:cs typeface="Sakkal Majalla" panose="02000000000000000000" pitchFamily="2" charset="-78"/>
              </a:rPr>
              <a:t>جميعَنا</a:t>
            </a:r>
            <a:r>
              <a:rPr lang="ar-JO" sz="4400" b="1" dirty="0">
                <a:effectLst/>
                <a:ea typeface="Calibri" panose="020F0502020204030204" pitchFamily="34" charset="0"/>
                <a:cs typeface="Aharoni" panose="02010803020104030203" pitchFamily="2" charset="-79"/>
              </a:rPr>
              <a:t> </a:t>
            </a:r>
            <a:r>
              <a:rPr lang="ar-JO" sz="4400" b="1" dirty="0">
                <a:effectLst/>
                <a:ea typeface="Calibri" panose="020F0502020204030204" pitchFamily="34" charset="0"/>
                <a:cs typeface="Sakkal Majalla" panose="02000000000000000000" pitchFamily="2" charset="-78"/>
              </a:rPr>
              <a:t>بشكلٍ</a:t>
            </a:r>
            <a:r>
              <a:rPr lang="ar-JO" sz="4400" b="1" dirty="0">
                <a:effectLst/>
                <a:ea typeface="Calibri" panose="020F0502020204030204" pitchFamily="34" charset="0"/>
                <a:cs typeface="Aharoni" panose="02010803020104030203" pitchFamily="2" charset="-79"/>
              </a:rPr>
              <a:t> </a:t>
            </a:r>
            <a:r>
              <a:rPr lang="ar-JO" sz="4400" b="1" dirty="0">
                <a:effectLst/>
                <a:ea typeface="Calibri" panose="020F0502020204030204" pitchFamily="34" charset="0"/>
                <a:cs typeface="Sakkal Majalla" panose="02000000000000000000" pitchFamily="2" charset="-78"/>
              </a:rPr>
              <a:t>منظّمٍ</a:t>
            </a:r>
            <a:r>
              <a:rPr lang="ar-JO" sz="4400" b="1" dirty="0">
                <a:effectLst/>
                <a:ea typeface="Calibri" panose="020F0502020204030204" pitchFamily="34" charset="0"/>
                <a:cs typeface="Aharoni" panose="02010803020104030203" pitchFamily="2" charset="-79"/>
              </a:rPr>
              <a:t>..</a:t>
            </a:r>
            <a:endParaRPr lang="en-US" sz="44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D77497-9F32-4819-A557-BE7EA52D8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812" y="2084827"/>
            <a:ext cx="7170710" cy="395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02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DC4CE-0E0A-42BE-BBE8-DE4B102F3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9286"/>
            <a:ext cx="10515600" cy="1269267"/>
          </a:xfrm>
        </p:spPr>
        <p:txBody>
          <a:bodyPr/>
          <a:lstStyle/>
          <a:p>
            <a:pPr marL="0" indent="0" algn="r">
              <a:buNone/>
            </a:pPr>
            <a:r>
              <a:rPr lang="ar-JO" sz="4400" b="1" dirty="0">
                <a:effectLst/>
                <a:ea typeface="Calibri" panose="020F0502020204030204" pitchFamily="34" charset="0"/>
                <a:cs typeface="Sakkal Majalla" panose="02000000000000000000" pitchFamily="2" charset="-78"/>
              </a:rPr>
              <a:t>عمّار: وأخيرًا أتينا إلى متحفِ الأطفالِ! إنّي متشوقٌ جدًّا للدّخولِ..</a:t>
            </a:r>
            <a:endParaRPr lang="en-US" sz="44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0337C-66DC-4C0F-A24D-F9D238885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337" y="2491409"/>
            <a:ext cx="2615463" cy="403528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F15E22-DAC9-4A69-8D81-EDC1742541B2}"/>
              </a:ext>
            </a:extLst>
          </p:cNvPr>
          <p:cNvCxnSpPr/>
          <p:nvPr/>
        </p:nvCxnSpPr>
        <p:spPr>
          <a:xfrm flipV="1">
            <a:off x="10071652" y="1590261"/>
            <a:ext cx="503583" cy="728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126680E-DA2F-4A92-BEAF-98347B5D4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47" y="1764195"/>
            <a:ext cx="635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30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3A56F-9BE8-4549-AC02-CEF9BDAA1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244" y="725695"/>
            <a:ext cx="10515600" cy="5264288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ar-JO" sz="4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دخل الطّلبةُ إلى المتحفِ، وانبهروا بجمالِ المكانِ، حيثُ أنَّهُ عالمٌ كبيرٌ من المعلوماتِ الشّيّقةِ..</a:t>
            </a:r>
          </a:p>
          <a:p>
            <a:pPr marL="0" indent="0" algn="r">
              <a:buNone/>
            </a:pPr>
            <a:endParaRPr lang="en-US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ar-JO" sz="4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اتّجهَ الطّلبةُ نحوَ قسمِ </a:t>
            </a:r>
          </a:p>
          <a:p>
            <a:pPr marL="0" indent="0" algn="r">
              <a:buNone/>
            </a:pPr>
            <a:r>
              <a:rPr lang="ar-JO" sz="4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التّجاربِ العلميّةِ، </a:t>
            </a:r>
          </a:p>
          <a:p>
            <a:pPr marL="0" indent="0" algn="r">
              <a:buNone/>
            </a:pPr>
            <a:r>
              <a:rPr lang="ar-JO" sz="4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حيثُ أنّ مشرفَ المختبرِ بدأَ </a:t>
            </a:r>
          </a:p>
          <a:p>
            <a:pPr marL="0" indent="0" algn="r">
              <a:buNone/>
            </a:pPr>
            <a:r>
              <a:rPr lang="ar-JO" sz="4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بتجهيزِ التّجربةِ وهي حالاتُ </a:t>
            </a:r>
          </a:p>
          <a:p>
            <a:pPr marL="0" indent="0" algn="r">
              <a:buNone/>
            </a:pPr>
            <a:r>
              <a:rPr lang="ar-JO" sz="4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المادّةِ..</a:t>
            </a:r>
            <a:endParaRPr lang="en-US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86AB6D-496F-42C6-A49B-9BA2272D8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26" y="1749288"/>
            <a:ext cx="6351105" cy="466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97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41A3E-B9F8-44B8-ACDC-A2C23A984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765" y="48715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 algn="r">
              <a:buNone/>
            </a:pPr>
            <a:r>
              <a:rPr lang="ar-JO" sz="4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وقفَ عمّارُ بجانبِ الطّاولةِ الّتي عليها أدواتِ التّجربةِ، يُمعِنُ النّظرَ فيها ويحاولُ استكشافَها. </a:t>
            </a:r>
            <a:endParaRPr lang="en-US" sz="44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endParaRPr lang="en-US" sz="4400" b="1" dirty="0"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r>
              <a:rPr lang="ar-JO" sz="4400" b="1" dirty="0">
                <a:solidFill>
                  <a:srgbClr val="2E74B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فجأةً، سمعَ صوتًا</a:t>
            </a:r>
            <a:endParaRPr lang="en-US" sz="4400" b="1" dirty="0">
              <a:solidFill>
                <a:srgbClr val="2E74B5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r>
              <a:rPr lang="ar-JO" sz="4400" b="1" dirty="0">
                <a:solidFill>
                  <a:srgbClr val="2E74B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يهمسُ: عمّار عمّار.. </a:t>
            </a:r>
            <a:endParaRPr lang="en-US" sz="4400" b="1" dirty="0">
              <a:solidFill>
                <a:srgbClr val="2E74B5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r>
              <a:rPr lang="ar-JO" sz="4400" b="1" dirty="0">
                <a:solidFill>
                  <a:srgbClr val="2E74B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هيّا إلمسني</a:t>
            </a:r>
            <a:endParaRPr lang="en-US" sz="4400" b="1" dirty="0">
              <a:solidFill>
                <a:srgbClr val="2E74B5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r>
              <a:rPr lang="ar-JO" sz="4400" b="1" dirty="0">
                <a:solidFill>
                  <a:srgbClr val="2E74B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إلمسني وتعالَ معي!</a:t>
            </a:r>
            <a:endParaRPr lang="en-US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D9EC-AA6D-4594-80F2-85E9E0DD2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6" y="2019507"/>
            <a:ext cx="6334539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75B0A5-F15C-4251-A4D9-1C915A13C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213" y="3806395"/>
            <a:ext cx="782845" cy="8211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3531AD-6FD6-4AC2-9B0A-4FF367A57E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392" y="3970642"/>
            <a:ext cx="626263" cy="6569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2CF6DB-DE83-4983-897B-BBDA34A0A4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816" y="3159882"/>
            <a:ext cx="1675588" cy="341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529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2B3CD-2DCA-4F3F-BA50-D555751D5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765" y="487155"/>
            <a:ext cx="10515600" cy="4351338"/>
          </a:xfrm>
        </p:spPr>
        <p:txBody>
          <a:bodyPr/>
          <a:lstStyle/>
          <a:p>
            <a:pPr marL="0" indent="0" algn="r">
              <a:buNone/>
            </a:pPr>
            <a:r>
              <a:rPr lang="ar-JO" sz="4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عادَ المكعّب يصّر على عمّار أنْ يلمسَهُ.. وعندما لمسَهُ عمّارُ، أصبح فجأةً داخلَ مكعّبِ الحديدِ وبين ذراتِهِ!</a:t>
            </a:r>
            <a:endParaRPr lang="en-US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05E1B-039C-4BA6-BCE1-80D0B20BD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6" y="2019507"/>
            <a:ext cx="6334539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10A9D7-65DE-4300-BE74-5ECB666FC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213" y="3806395"/>
            <a:ext cx="782845" cy="821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6426A4-9022-4176-82D4-7E33739C6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392" y="3970642"/>
            <a:ext cx="626263" cy="656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1C3438-BDE9-4843-AF50-FDBD439BDD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816" y="3159882"/>
            <a:ext cx="1675588" cy="341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274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7749F4-4349-4FF0-B161-2764715E5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06" y="1457740"/>
            <a:ext cx="4960349" cy="520316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5BE95C-4F37-4DC3-A0DF-2FB3AD298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998" y="3429000"/>
            <a:ext cx="1815548" cy="18155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ECCC97E-8FCE-481F-B1C7-37D5ED5A5A23}"/>
              </a:ext>
            </a:extLst>
          </p:cNvPr>
          <p:cNvSpPr/>
          <p:nvPr/>
        </p:nvSpPr>
        <p:spPr>
          <a:xfrm>
            <a:off x="3314438" y="412461"/>
            <a:ext cx="8589211" cy="329808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algn="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JO" sz="4400" b="1" dirty="0">
                <a:solidFill>
                  <a:srgbClr val="2E74B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أهلًا وسهلًا بكَ داخلَ مكعّبِ الحديدِ الصّلبِ يا عمّار. </a:t>
            </a:r>
            <a:endParaRPr lang="en-US" sz="4400" b="1" dirty="0">
              <a:solidFill>
                <a:srgbClr val="2E74B5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marR="0" algn="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JO" sz="4400" b="1" dirty="0">
                <a:solidFill>
                  <a:srgbClr val="2E74B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قالَ المكعّبُ. أيُّها المجازف، أنتَ في أقوى حالةٍ </a:t>
            </a:r>
            <a:endParaRPr lang="en-US" sz="4400" b="1" dirty="0">
              <a:solidFill>
                <a:srgbClr val="2E74B5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marR="0" algn="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JO" sz="4400" b="1" dirty="0">
                <a:solidFill>
                  <a:srgbClr val="2E74B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من حالاتِ المادّةِوهي الحالةُ</a:t>
            </a:r>
            <a:endParaRPr lang="en-US" sz="4400" b="1" dirty="0">
              <a:solidFill>
                <a:srgbClr val="2E74B5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marR="0" algn="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ar-JO" sz="4400" b="1" dirty="0">
                <a:solidFill>
                  <a:srgbClr val="2E74B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الصّلبةُ مثلَ رأسي الصّلبِ وكأنّه حجرٌ!</a:t>
            </a:r>
            <a:endParaRPr lang="en-US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625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B43FE-6675-461A-B49A-200558153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8773" y="606424"/>
            <a:ext cx="10515600" cy="5966654"/>
          </a:xfrm>
        </p:spPr>
        <p:txBody>
          <a:bodyPr>
            <a:normAutofit fontScale="92500" lnSpcReduction="10000"/>
          </a:bodyPr>
          <a:lstStyle/>
          <a:p>
            <a:pPr marL="0" indent="0" algn="r">
              <a:buNone/>
            </a:pPr>
            <a:r>
              <a:rPr lang="ar-JO" sz="4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عمّار: شكرًا لك، ولكنَّ جزيئاتِكَ تضغطُ على جسدي ولا أ</a:t>
            </a:r>
            <a:r>
              <a:rPr lang="ar-JO" sz="44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س</a:t>
            </a:r>
            <a:r>
              <a:rPr lang="ar-JO" sz="4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تطيعُ الحركةَ..</a:t>
            </a:r>
            <a:endParaRPr lang="en-US" sz="4400" b="1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endParaRPr lang="en-US" sz="4400" b="1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r>
              <a:rPr lang="ar-JO" sz="4400" b="1" dirty="0">
                <a:solidFill>
                  <a:srgbClr val="2F549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المكعّب: أنا آسفٌ حقًا، لا أعلمُ ماذا</a:t>
            </a:r>
          </a:p>
          <a:p>
            <a:pPr marL="0" indent="0" algn="r">
              <a:buNone/>
            </a:pPr>
            <a:r>
              <a:rPr lang="ar-JO" sz="4400" b="1" dirty="0">
                <a:solidFill>
                  <a:srgbClr val="2F549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أستطيعُ أنْ أفعلَ لأخفّفَ عليك،</a:t>
            </a:r>
          </a:p>
          <a:p>
            <a:pPr marL="0" indent="0" algn="r">
              <a:buNone/>
            </a:pPr>
            <a:r>
              <a:rPr lang="ar-JO" sz="4400" b="1" dirty="0">
                <a:solidFill>
                  <a:srgbClr val="2F549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إنّ جزيئاتي يا عمّار قريبةٌ من بعضِها</a:t>
            </a:r>
          </a:p>
          <a:p>
            <a:pPr marL="0" indent="0" algn="r">
              <a:buNone/>
            </a:pPr>
            <a:r>
              <a:rPr lang="ar-JO" sz="4400" b="1" dirty="0">
                <a:solidFill>
                  <a:srgbClr val="2F549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البعض وذلك لأنّ قوّةَ التّجاذبِ بينها</a:t>
            </a:r>
          </a:p>
          <a:p>
            <a:pPr marL="0" indent="0" algn="r">
              <a:buNone/>
            </a:pPr>
            <a:r>
              <a:rPr lang="ar-JO" sz="4400" b="1" dirty="0">
                <a:solidFill>
                  <a:srgbClr val="2F549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قويّةٌ جدًّا لذلك لا يستطيعُ أحدٌ أن </a:t>
            </a:r>
          </a:p>
          <a:p>
            <a:pPr marL="0" indent="0" algn="r">
              <a:buNone/>
            </a:pPr>
            <a:r>
              <a:rPr lang="ar-JO" sz="4400" b="1" dirty="0">
                <a:solidFill>
                  <a:srgbClr val="2F5496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يضغطني ويغيّرَ من شكلي..</a:t>
            </a:r>
            <a:endParaRPr lang="en-US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AF4749-04D3-4FDE-A833-7984B9AFF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59" y="1470991"/>
            <a:ext cx="4958798" cy="49282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EF72EA-CA7B-4CB4-856B-AA8DCB18E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243" y="3429000"/>
            <a:ext cx="1815548" cy="181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21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AC2FB-2564-428A-8E4B-E287B7A9D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609" y="1179918"/>
            <a:ext cx="10515600" cy="4351338"/>
          </a:xfrm>
        </p:spPr>
        <p:txBody>
          <a:bodyPr/>
          <a:lstStyle/>
          <a:p>
            <a:pPr marL="0" indent="0" algn="r">
              <a:buNone/>
            </a:pPr>
            <a:r>
              <a:rPr lang="ar-JO" sz="4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وبدأَ مكعّبُ الحديدِ يمشي رويدًا رويدًا </a:t>
            </a:r>
          </a:p>
          <a:p>
            <a:pPr marL="0" indent="0" algn="r">
              <a:buNone/>
            </a:pPr>
            <a:r>
              <a:rPr lang="ar-JO" sz="4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إلى أنْ وصلَ بجانبِ كأسًا طويلًا</a:t>
            </a:r>
          </a:p>
          <a:p>
            <a:pPr marL="0" indent="0" algn="r">
              <a:buNone/>
            </a:pPr>
            <a:r>
              <a:rPr lang="ar-JO" sz="4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من العصيرِ، قَفز ومن ثمَّ رمى</a:t>
            </a:r>
          </a:p>
          <a:p>
            <a:pPr marL="0" indent="0" algn="r">
              <a:buNone/>
            </a:pPr>
            <a:r>
              <a:rPr lang="ar-JO" sz="4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عمّارَ في كأسِ العصيرِ!</a:t>
            </a:r>
            <a:endParaRPr lang="en-US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C68481-FA1D-4842-B70D-2B81780F7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6" y="2019507"/>
            <a:ext cx="6334539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CDECF6-B2FD-4F30-903A-17C4D009B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726" y="2806382"/>
            <a:ext cx="782845" cy="821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F579FC-5F57-4925-AAED-5E24C878D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392" y="3970642"/>
            <a:ext cx="626263" cy="656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95838F-46AE-4033-B2F6-4AB83C49CB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148" y="3078342"/>
            <a:ext cx="277245" cy="27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667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67037-2111-4142-8081-6CF2DF608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756" y="394389"/>
            <a:ext cx="10515600" cy="5608845"/>
          </a:xfrm>
        </p:spPr>
        <p:txBody>
          <a:bodyPr>
            <a:normAutofit fontScale="92500" lnSpcReduction="20000"/>
          </a:bodyPr>
          <a:lstStyle/>
          <a:p>
            <a:pPr marL="0" indent="0" algn="r">
              <a:buNone/>
            </a:pPr>
            <a:r>
              <a:rPr lang="ar-JO" sz="4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عمّار: يا إلهي! أين أنا؟؟ الحمدلله أنني أجيدُ السّباحةَ..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العصير: تذوّقْ طعمي يا عمّار فأنا لذيذٌ جدًّا..</a:t>
            </a:r>
            <a:endParaRPr lang="en-US" sz="4000" b="1" dirty="0">
              <a:solidFill>
                <a:srgbClr val="7030A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عمّار: أنا سعيدٌ! إنني أسبحُ وأغوصُ بأعماقِك ولكنّ</a:t>
            </a:r>
            <a:endParaRPr lang="en-US" sz="4000" b="1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المكانَ ضيّقٌ بعضَ الشّيء..</a:t>
            </a:r>
            <a:endParaRPr lang="en-US" sz="4000" b="1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endParaRPr lang="ar-JO" sz="4000" b="1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العصير: نعم، لأنّ جزيئاتي قريبةٌ قليلًا من بعضِها </a:t>
            </a:r>
          </a:p>
          <a:p>
            <a:pPr marL="0" indent="0" algn="r">
              <a:buNone/>
            </a:pPr>
            <a:r>
              <a:rPr lang="ar-JO" sz="4000" b="1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ولكنَّك كنتَ تعاني عندما كنتَ داخلَ</a:t>
            </a:r>
          </a:p>
          <a:p>
            <a:pPr marL="0" indent="0" algn="r">
              <a:buNone/>
            </a:pPr>
            <a:r>
              <a:rPr lang="ar-JO" sz="4000" b="1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مكعّبِ الحديدِ..أمّا هُنا فأنت</a:t>
            </a:r>
          </a:p>
          <a:p>
            <a:pPr marL="0" indent="0" algn="r">
              <a:buNone/>
            </a:pPr>
            <a:r>
              <a:rPr lang="ar-JO" sz="4000" b="1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تتحركُ براحتِك أكثرَ قليلًا..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C7337-83B3-4869-9DFF-89C66F956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62" y="282885"/>
            <a:ext cx="2884624" cy="50444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54336E-9C8D-4D27-8A89-51C7589FC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85660"/>
            <a:ext cx="1815548" cy="1815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B31A29-7DBB-4D81-8D4A-0DF9491E45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806" y="4373218"/>
            <a:ext cx="2659697" cy="209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715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245C3-CB89-40DF-8A96-346FD437A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4548" y="659432"/>
            <a:ext cx="10515600" cy="5054429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ar-JO" sz="4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عمار: نعم صحيح.. لكنْ، هل يستطيعُ أحد أنْ يضغطَك؟</a:t>
            </a:r>
            <a:endParaRPr lang="en-US" sz="4000" b="1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العصير: كم أنتَ متسائِلٌ يا عمَار.. بالطّبع لا أحد</a:t>
            </a:r>
            <a:endParaRPr lang="en-US" sz="4000" b="1" dirty="0">
              <a:solidFill>
                <a:srgbClr val="7030A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يستطيعُ أنْ يضغطَني ولكنّ شكلي غيرَ ثابتٍ.. </a:t>
            </a:r>
            <a:endParaRPr lang="en-US" sz="4000" b="1" dirty="0">
              <a:solidFill>
                <a:srgbClr val="7030A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فأنا هُنا طويــــــــــــــــــــــلٌ جدًّا..</a:t>
            </a:r>
            <a:endParaRPr lang="en-US" sz="4000" b="1" dirty="0">
              <a:solidFill>
                <a:srgbClr val="7030A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عمّار: وكيف مِنَ الممكنِ أنْ يختلفَ شكلُكَ؟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483BD0-D4AE-437F-A563-D594BD4A8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44" y="1409181"/>
            <a:ext cx="2884624" cy="5054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5F8A11-5919-4273-A8E8-10DB76E30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182" y="3521765"/>
            <a:ext cx="1815548" cy="181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997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ACFCC-D4C7-4234-AD0E-7D8B1AF9B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270" y="434146"/>
            <a:ext cx="10515600" cy="5979905"/>
          </a:xfrm>
        </p:spPr>
        <p:txBody>
          <a:bodyPr>
            <a:normAutofit fontScale="85000" lnSpcReduction="10000"/>
          </a:bodyPr>
          <a:lstStyle/>
          <a:p>
            <a:pPr marL="0" indent="0" algn="r">
              <a:buNone/>
            </a:pPr>
            <a:r>
              <a:rPr lang="ar-JO" sz="4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بدأَ كأسُ العصيرِ يزحفُ إلى أنْ وصلَ إلى دلوٍ عريضٍ وكبيرٍ وأسقطَ عمّار والعصيرَ فيهِ..</a:t>
            </a:r>
          </a:p>
          <a:p>
            <a:pPr marL="0" indent="0" algn="r">
              <a:buNone/>
            </a:pP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عمّار: أخ! لقدْ ارتطمَ رأسي بالقاعِ .. كيف هذا؟ وكيف قلّتْ كمّيّتُك بهذا الشّكلِ!! </a:t>
            </a:r>
          </a:p>
          <a:p>
            <a:pPr marL="0" indent="0" algn="r">
              <a:buNone/>
            </a:pP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العصير: كمّيتي لم تقلْ، ولكنّ الدّلوَ واسعٌ جدًّا </a:t>
            </a:r>
          </a:p>
          <a:p>
            <a:pPr marL="0" indent="0" algn="r">
              <a:buNone/>
            </a:pPr>
            <a:r>
              <a:rPr lang="ar-JO" sz="4000" b="1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فأخذْتُ شكلَهُ، فقوى التّجاذبِ بين جزيئاتي </a:t>
            </a:r>
          </a:p>
          <a:p>
            <a:pPr marL="0" indent="0" algn="r">
              <a:buNone/>
            </a:pPr>
            <a:r>
              <a:rPr lang="ar-JO" sz="4000" b="1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ليستْ متماسكةً كثيرًا لذلك أستطيعُ أنْ أغيّرَ </a:t>
            </a:r>
          </a:p>
          <a:p>
            <a:pPr marL="0" indent="0" algn="r">
              <a:buNone/>
            </a:pPr>
            <a:r>
              <a:rPr lang="ar-JO" sz="4000" b="1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من شكلي..</a:t>
            </a:r>
          </a:p>
          <a:p>
            <a:pPr marL="0" indent="0" algn="r">
              <a:buNone/>
            </a:pP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عمّار: سوفَ أخرجُ من هُنا.. لم أعِدْ أستطيعُ السّباحةَ، </a:t>
            </a:r>
          </a:p>
          <a:p>
            <a:pPr marL="0" indent="0" algn="r">
              <a:buNone/>
            </a:pPr>
            <a:r>
              <a:rPr lang="ar-JO" sz="4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فأنتَ تصلُ إلى قدميّ فقط.. إلى اللّقاءِ..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122E8C-DF75-476B-AA29-ABE76E517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38" y="2148016"/>
            <a:ext cx="3578087" cy="42532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B04310-6B54-45AC-93E7-2111DF3B2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911375">
            <a:off x="1286667" y="4572688"/>
            <a:ext cx="1137714" cy="107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13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00CD7-50EF-407B-A568-9FA9718EF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018" y="646181"/>
            <a:ext cx="10515600" cy="5294970"/>
          </a:xfrm>
        </p:spPr>
        <p:txBody>
          <a:bodyPr>
            <a:normAutofit fontScale="85000" lnSpcReduction="20000"/>
          </a:bodyPr>
          <a:lstStyle/>
          <a:p>
            <a:pPr marL="0" indent="0" algn="r">
              <a:buNone/>
            </a:pPr>
            <a:r>
              <a:rPr lang="ar-JO" sz="4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وعندما وصل عمّار إلى أعلى الدّلوِ تعثّرَ وتدحرجَ حتّى سقط في أسطوانةٍ صغيرةٍ..</a:t>
            </a:r>
          </a:p>
          <a:p>
            <a:pPr marL="0" indent="0" algn="r">
              <a:buNone/>
            </a:pPr>
            <a:endParaRPr lang="en-US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ar-JO" sz="4400" b="1" dirty="0">
                <a:solidFill>
                  <a:srgbClr val="53813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غاز الهيليوم: أهلًا وسهلًا يا عمّار!</a:t>
            </a:r>
          </a:p>
          <a:p>
            <a:pPr marL="0" indent="0" algn="r">
              <a:buNone/>
            </a:pPr>
            <a:endParaRPr lang="en-US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ar-JO" sz="4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عمّار: مَن أنتَ؟</a:t>
            </a:r>
          </a:p>
          <a:p>
            <a:pPr marL="0" indent="0" algn="r">
              <a:buNone/>
            </a:pPr>
            <a:endParaRPr lang="ar-JO" sz="4400" b="1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r>
              <a:rPr lang="ar-JO" sz="4400" b="1" dirty="0">
                <a:solidFill>
                  <a:srgbClr val="53813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غاز الهيليوم: لا تقلقْ! أنا غازُ الهيليوم.</a:t>
            </a:r>
            <a:endParaRPr lang="en-US" sz="4400" b="1" dirty="0">
              <a:solidFill>
                <a:srgbClr val="538135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endParaRPr lang="en-US" sz="4400" b="1" dirty="0">
              <a:solidFill>
                <a:srgbClr val="538135"/>
              </a:solidFill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r>
              <a:rPr lang="ar-JO" sz="4400" b="1" dirty="0">
                <a:solidFill>
                  <a:srgbClr val="FF0000"/>
                </a:solidFill>
                <a:latin typeface="Arial" panose="020B0604020202020204" pitchFamily="34" charset="0"/>
                <a:cs typeface="Sakkal Majalla" panose="02000000000000000000" pitchFamily="2" charset="-78"/>
              </a:rPr>
              <a:t>عمّار: غازٌ! ولكنّني لاأراكَ!</a:t>
            </a:r>
            <a:endParaRPr lang="en-US" sz="4400" b="1" dirty="0">
              <a:solidFill>
                <a:srgbClr val="FF0000"/>
              </a:solidFill>
              <a:latin typeface="Arial" panose="020B060402020202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endParaRPr lang="en-US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73E28-9A31-41BF-B314-987079EAE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82" y="1571246"/>
            <a:ext cx="4369905" cy="43699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DC42EC-E8BC-4A97-B7C0-BF2E58E71D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525" y="3756198"/>
            <a:ext cx="715618" cy="71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985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F88C1-F778-48F9-A2C5-C67352486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496" y="381137"/>
            <a:ext cx="10515600" cy="5622098"/>
          </a:xfrm>
        </p:spPr>
        <p:txBody>
          <a:bodyPr>
            <a:normAutofit fontScale="85000" lnSpcReduction="20000"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ar-JO" sz="4200" b="1" dirty="0">
                <a:solidFill>
                  <a:srgbClr val="53813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غاز الهيليوم: نعم، فأنا لا شكل لي ومعظم الغازات لا لون لها، أنتشرُ بشكلٍ عشوائيٍّ لأنّ المسافةَ بين جزيئاتي بعيدةٌ، وقوى التّجاذبِ بينهم تَكادُ تكونُ معدومةً.. لذلك أنت تُحلِّقُ وتطيرُ براحتِك هُنا..</a:t>
            </a:r>
            <a:endParaRPr lang="en-US" sz="4200" b="1" dirty="0">
              <a:solidFill>
                <a:srgbClr val="538135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ar-JO" sz="36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عمّار: وهل يستطيعُ أحدٌ ضغطَكَ؟</a:t>
            </a:r>
            <a:endParaRPr lang="en-US" sz="3600" b="1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ar-JO" sz="3600" b="1" dirty="0">
                <a:solidFill>
                  <a:srgbClr val="53813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غاز الهيليوم: نعم، فأنا مضغوطٌ جدًّا في هذه</a:t>
            </a:r>
            <a:endParaRPr lang="en-US" sz="3600" b="1" dirty="0">
              <a:solidFill>
                <a:srgbClr val="538135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r>
              <a:rPr lang="ar-JO" sz="3600" b="1" dirty="0">
                <a:solidFill>
                  <a:srgbClr val="53813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الاسطوانةِ ومنَ الممكنِ أنْ أنفجرَ..</a:t>
            </a:r>
            <a:endParaRPr lang="en-US" sz="3600" b="1" dirty="0">
              <a:solidFill>
                <a:srgbClr val="538135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endParaRPr lang="en-US" sz="3600" b="1" dirty="0">
              <a:solidFill>
                <a:srgbClr val="538135"/>
              </a:solidFill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r>
              <a:rPr lang="ar-JO" sz="39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عمّار: آه! حقًا لقد تعبتُ من هذه المغامرةِ..</a:t>
            </a:r>
            <a:endParaRPr lang="en-US" sz="3900" b="1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r>
              <a:rPr lang="ar-JO" sz="39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 أنا ذاهبٌ.. ودا</a:t>
            </a:r>
            <a:r>
              <a:rPr lang="ar-JO" sz="39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ااااااا</a:t>
            </a:r>
            <a:r>
              <a:rPr lang="ar-JO" sz="39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عًا!</a:t>
            </a:r>
            <a:endParaRPr lang="en-US" sz="39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8E2434-7506-46E8-A8E5-BE205C91F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194" y="2241710"/>
            <a:ext cx="3273737" cy="37028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79C8D1-225C-4BAE-8F49-0A1B4EE40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25" y="1332580"/>
            <a:ext cx="1740341" cy="49833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06585B-8265-4B6B-A3F2-CAF9E5BACE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86" y="3824239"/>
            <a:ext cx="715618" cy="71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165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8DEF9-D5C8-4DD5-8849-127E8071B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495" y="989012"/>
            <a:ext cx="10515600" cy="487997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ar-JO" sz="4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خرج عمّار، وتفاجأَ بأنَّ المتحفَ فارغٌ..</a:t>
            </a:r>
            <a:endParaRPr lang="en-US" sz="40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عمّار بصوتٍ خائفٍ: يا ألهي أين زملائي؟؟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FC03A-35F6-449A-9D40-4830D1C6D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05" y="1210848"/>
            <a:ext cx="4658139" cy="465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436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608EB-175C-4201-9466-9CD4FDE88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756" y="447399"/>
            <a:ext cx="10515600" cy="5993158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ar-JO" sz="4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ركضَ عمّارُ نحو البابِ وإذْ بمعلمتهِ تنادي عليّهِ..</a:t>
            </a:r>
            <a:endParaRPr lang="en-US" sz="40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806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المعلمة: لقد بحثْنا عنكَ في كلِّ مكانٍ، أين كنتَ؟</a:t>
            </a:r>
            <a:endParaRPr lang="en-US" sz="4000" b="1" dirty="0">
              <a:solidFill>
                <a:srgbClr val="806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عمّار وهو ينظرُ ملتفتًا إلى متحفِ الأطفالِ: لقدْ كنتُ </a:t>
            </a:r>
            <a:endParaRPr lang="en-US" sz="4000" b="1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في أغربِ مغامرةٍ ممكنُ أنْ أخوضَها في حياتي! سأخبرُكِ </a:t>
            </a:r>
            <a:endParaRPr lang="en-US" sz="4000" b="1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بها الآن في الباصِ..</a:t>
            </a:r>
            <a:endParaRPr lang="en-US" sz="4000" b="1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indent="0" algn="r">
              <a:buNone/>
            </a:pP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ar-JO" sz="4000" b="1" dirty="0">
                <a:solidFill>
                  <a:srgbClr val="99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الطّلبة: هيّا لننطلق!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F30C2-4F13-47A5-BFC1-6279639FC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44" y="1179443"/>
            <a:ext cx="3164727" cy="513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73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617</Words>
  <Application>Microsoft Office PowerPoint</Application>
  <PresentationFormat>Widescreen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hala amareen</dc:creator>
  <cp:lastModifiedBy>hala amareen</cp:lastModifiedBy>
  <cp:revision>10</cp:revision>
  <dcterms:created xsi:type="dcterms:W3CDTF">2023-02-23T04:52:12Z</dcterms:created>
  <dcterms:modified xsi:type="dcterms:W3CDTF">2023-02-23T05:54:05Z</dcterms:modified>
</cp:coreProperties>
</file>